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d5e1f76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8d5e1f768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8d5e1f7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8d5e1f76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d5e1f76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8d5e1f768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d5e1f76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8d5e1f768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8d5e1f76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8d5e1f768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8d5e1f76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8d5e1f768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8d5e1f76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8d5e1f768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90fc1365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90fc1365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90fc1365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90fc1365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90fc136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90fc1365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90fc1365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90fc1365b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90fc1365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c90fc1365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90fc1365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90fc1365b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86000" y="6097397"/>
            <a:ext cx="76200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Guardian Gestora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280550" y="959250"/>
            <a:ext cx="96309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2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Case</a:t>
            </a:r>
            <a:endParaRPr b="1" i="1" sz="4200">
              <a:solidFill>
                <a:srgbClr val="00166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-US" sz="38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Estágio em Análise de Dados</a:t>
            </a:r>
            <a:endParaRPr i="1" sz="3800">
              <a:solidFill>
                <a:srgbClr val="00166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sz="3200">
              <a:solidFill>
                <a:srgbClr val="00166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Vitor Hugo </a:t>
            </a:r>
            <a:r>
              <a:rPr lang="en-US" sz="26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Magalhães</a:t>
            </a:r>
            <a:r>
              <a:rPr lang="en-US" sz="2600">
                <a:solidFill>
                  <a:srgbClr val="001665"/>
                </a:solidFill>
                <a:latin typeface="Montserrat"/>
                <a:ea typeface="Montserrat"/>
                <a:cs typeface="Montserrat"/>
                <a:sym typeface="Montserrat"/>
              </a:rPr>
              <a:t> Marinho</a:t>
            </a:r>
            <a:endParaRPr sz="2600">
              <a:solidFill>
                <a:srgbClr val="00166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" name="Google Shape;87;p13" title="16291404081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79041"/>
            <a:ext cx="12192000" cy="3178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25" y="3152325"/>
            <a:ext cx="762000" cy="38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968476" y="2311992"/>
            <a:ext cx="82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77000" y="3429000"/>
            <a:ext cx="7743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objetivo deste case é desenvolver uma análise de uma carteira de crédito estruturado, obtendo visões analíticas relevantes e calculando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métricas de desempenho.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solução deverá ser implementada em Python, aplicando boas práticas de tratamento, modelagem e visualização de dados.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3612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3612"/>
            <a:ext cx="3492549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84236" y="2607687"/>
            <a:ext cx="286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1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da Carteira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020725" y="3429000"/>
            <a:ext cx="27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Análise da distribuição dos valores de parcela e valores de aquisição da carteira.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62535" y="2553537"/>
            <a:ext cx="286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2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Taxa Média da Carteira 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730774" y="3429012"/>
            <a:ext cx="27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Cálculo para encontrar a taxa média ponderada da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carteira total.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260850" y="2553525"/>
            <a:ext cx="322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3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Inadimplência da Carteira </a:t>
            </a:r>
            <a:endParaRPr b="1" sz="18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8509074" y="3429012"/>
            <a:ext cx="2730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Cálculo para descobrir a Inadimplência Cash da carteira, para as parcelas vencidas.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ETAPAS DE EXECUÇÃO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05513" y="494988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93050" y="494988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80588" y="4949888"/>
            <a:ext cx="27432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40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1924050"/>
            <a:ext cx="5500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4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Identificar onde está o problema</a:t>
            </a:r>
            <a:endParaRPr sz="1600"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324175"/>
            <a:ext cx="4159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 partir da análise e visões obtidas, identificar o principal problema da carteira que está impactando a rentabilidade do fundo e determine quando ele teve início.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488" y="419840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Além de…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586800"/>
            <a:ext cx="43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Resumo dos resultados obtidos, principais conclusões e insights relevantes.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PRINCIPAL OBJETIVO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9375" y="1924050"/>
            <a:ext cx="5829300" cy="34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1 - ANÁLISE 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DA CARTEIRA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57300" cy="8313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28800" y="2394458"/>
            <a:ext cx="5716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carteira apresenta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crescimento concentrado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em períodos específicos, com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picos claros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aquisição ao longo do tempo. Os picos concentram-se principalmente em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jan/2023, abr–mai/2023 e set–out/2023.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Observa-se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forte concentração de capital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em poucos convênios, especificamente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 e 3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que representam aproximados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53,16%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parcela do valor investido.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valor nominal das parcelas é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consistentemente superior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ao valor de aquisição, refletindo 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deságio e a expectativa de retorno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operação.</a:t>
            </a:r>
            <a:endParaRPr sz="32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5917" y="21167"/>
            <a:ext cx="58102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917" y="3678767"/>
            <a:ext cx="5810250" cy="32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7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9" name="Google Shape;139;p17"/>
          <p:cNvSpPr txBox="1"/>
          <p:nvPr/>
        </p:nvSpPr>
        <p:spPr>
          <a:xfrm>
            <a:off x="628800" y="1960650"/>
            <a:ext cx="18627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71500"/>
            <a:ext cx="1140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1 - ANÁLISE 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DA CARTEIRA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57300" cy="8313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28800" y="2394458"/>
            <a:ext cx="5716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estratégia de crescimento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priorizou volume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sendo assim,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reduzindo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 nível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diversificação.</a:t>
            </a:r>
            <a:endParaRPr b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performance da carteira torna-se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altamente dependente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do comportamento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 convênios dominantes.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Em cenários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deterioração de crédito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o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impacto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tende a ser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amplificado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dada a concentração de capital.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5917" y="21167"/>
            <a:ext cx="58102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917" y="3678767"/>
            <a:ext cx="5810250" cy="32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8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1" name="Google Shape;151;p18"/>
          <p:cNvSpPr txBox="1"/>
          <p:nvPr/>
        </p:nvSpPr>
        <p:spPr>
          <a:xfrm>
            <a:off x="628800" y="1960650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Insights e Implicações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62000" y="571500"/>
            <a:ext cx="1140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1 - ANÁLISE 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DA CARTEIRA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71500" y="571500"/>
            <a:ext cx="57300" cy="8313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28800" y="2394449"/>
            <a:ext cx="5716500" cy="3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fundo aumentou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significativamente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 exposição em determinados períodos,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concentrando risco em convênio específicos.</a:t>
            </a:r>
            <a:endParaRPr b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rentabilidade da carteira está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fortemente condicionada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desempenho de poucos convênios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amplificando o impacto de qualquer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deterioração de crédito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nesses segmentos.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fundo assumiu posições relevantes em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operações de maior ticket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o que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aumenta o retorno potencial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mas também eleva significativamente 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sensibilidade da carteira à imprevistos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como inadimplência.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5917" y="21167"/>
            <a:ext cx="58102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917" y="3678767"/>
            <a:ext cx="5810250" cy="32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19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63" name="Google Shape;163;p19"/>
          <p:cNvSpPr txBox="1"/>
          <p:nvPr/>
        </p:nvSpPr>
        <p:spPr>
          <a:xfrm>
            <a:off x="628800" y="1960650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Conclusões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1 - BÔNUS - VP 31/01/2026 DAS PARCELAS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82075" y="571500"/>
            <a:ext cx="46800" cy="415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250" y="1138225"/>
            <a:ext cx="58102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600" y="1318150"/>
            <a:ext cx="581025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48175" y="5672675"/>
            <a:ext cx="118428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carteira apresenta forte concentração de valor em poucos convênios e em meses específicos de aquisição, e observa-se que, justamente nesses períodos e convênios de maior volume, o valor presente cai de forma mais acentuada em relação ao valor nominal/aquisicionado, indicando maior impacto de risco e inadimplência sobre a rentabilidade futura do fundo.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762000" y="571500"/>
            <a:ext cx="11401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2 - CALCULANDO 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TAXA MÉDIA PONDERADA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DA CARTEIRA TOTAL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71500" y="571500"/>
            <a:ext cx="57300" cy="12468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2394449"/>
            <a:ext cx="5716500" cy="3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taxa média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carteira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não é estável ao longo do tempo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variando significativamente entre safras.</a:t>
            </a:r>
            <a:endParaRPr sz="23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Safras com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maior volume de aquisição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tendem a apresentar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taxas mais elevadas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sugerindo tentativa de compensação de maior risco.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Há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alternância significativa entre convênios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com alguns apresentando taxas substancialmente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acima da média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carteira.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3" name="Google Shape;183;p21"/>
          <p:cNvSpPr txBox="1"/>
          <p:nvPr/>
        </p:nvSpPr>
        <p:spPr>
          <a:xfrm>
            <a:off x="597050" y="1960650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0"/>
            <a:ext cx="59245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617" y="3672588"/>
            <a:ext cx="59245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762000" y="571500"/>
            <a:ext cx="11401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2 - CALCULANDO 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TAXA MÉDIA PONDERADA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DA CARTEIRA TOTAL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71500" y="571500"/>
            <a:ext cx="57300" cy="12468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2394449"/>
            <a:ext cx="5716500" cy="3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Taxas mais altas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são indicativas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maior risco, e não garantem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por si só, maior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retorno efetivo da carteira.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rentabilidade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esperada da carteira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depende de um conjunto reduzido de convênios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 maior taxa, aumentando a concentração de risco.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crescimento acelerado da carteira ocorreu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sem diluição do risco médio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sugerindo deterioração do perfil de crédito ao longo do tempo.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4" name="Google Shape;194;p22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5" name="Google Shape;195;p22"/>
          <p:cNvSpPr txBox="1"/>
          <p:nvPr/>
        </p:nvSpPr>
        <p:spPr>
          <a:xfrm>
            <a:off x="597050" y="1960650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Insights e Implicações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0"/>
            <a:ext cx="59245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617" y="3672588"/>
            <a:ext cx="59245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762000" y="571500"/>
            <a:ext cx="11401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2 - CALCULANDO 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TAXA MÉDIA PONDERADA 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DA CARTEIRA TOTAL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71500" y="571500"/>
            <a:ext cx="57300" cy="12468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2394449"/>
            <a:ext cx="5716500" cy="3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estratégia de crescimento adotada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elevou simultaneamente volume e risco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tornando a carteira mais sensível.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aumento das taxas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praticadas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não elimina o risco de crédito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apenas busca precificá-lo.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análise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reforça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 necessidade de avaliar se 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taxa cobrada foi suficiente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para compensar as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perdas observadas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tema central da etapa seguinte de inadimplência.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6" name="Google Shape;206;p23"/>
          <p:cNvCxnSpPr/>
          <p:nvPr/>
        </p:nvCxnSpPr>
        <p:spPr>
          <a:xfrm flipH="1" rot="10800000">
            <a:off x="6729592" y="3657600"/>
            <a:ext cx="5313000" cy="150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07" name="Google Shape;207;p23"/>
          <p:cNvSpPr txBox="1"/>
          <p:nvPr/>
        </p:nvSpPr>
        <p:spPr>
          <a:xfrm>
            <a:off x="597050" y="1960650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Conclusões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0" y="0"/>
            <a:ext cx="59245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617" y="3672588"/>
            <a:ext cx="59245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3 - CALCULANDO A INADIMPLÊNCIA DA CARTEIRA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571500" y="571500"/>
            <a:ext cx="57300" cy="415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476250" y="1907625"/>
            <a:ext cx="5716500" cy="4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taxa de inadimplência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não é constante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com picos claros em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determinadas safras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aquisição.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Out/2022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Inadimplência cash próxima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20%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muito acima do padrão posterior.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Indica uma safra inicial com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qualidade de crédito fraca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ou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critérios ainda imaturos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Mar/2023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Novo pico relevante,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≈ 16%.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Coincide com um dos períodos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forte crescimento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carteira, vistos na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ETAPA 1.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Jan–Fev/2024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Inadimplência novamente elevada,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≈ 15%.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Mostra que o problema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não ficou restrito ao início da carteira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reaparecendo em safras mais recentes.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465667" y="1473825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413" y="1685488"/>
            <a:ext cx="5934075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3 - CALCULANDO A INADIMPLÊNCIA DA CARTEIRA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571500"/>
            <a:ext cx="57300" cy="415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412750" y="1907625"/>
            <a:ext cx="5875200" cy="4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Poucos convênios concentram 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maior parte da inadimplência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reforçando 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risco de concentração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já identificado nas etapas anteriores.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Convênio 3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Maior inadimplência da carteira,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≈ 19–20%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Também é um dos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convênios com maior volume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financeiro.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Principal ponto 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negativo da performance.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Convênio 10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Inadimplência elevada,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≈ 19%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Mesmo não sendo o maior em volume,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adiciona risco relevante.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Convênio 2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Inadimplência intermediária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≈ 9%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mas com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peso alto 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na carteira.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mpacto econômico significativo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mesmo sem ser o pior em percentual.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412750" y="1473825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413" y="1907625"/>
            <a:ext cx="59340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3 - CALCULANDO A INADIMPLÊNCIA DA CARTEIRA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71500" y="571500"/>
            <a:ext cx="57300" cy="415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412750" y="1907625"/>
            <a:ext cx="5875200" cy="4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risco real da carteira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está concentrado nos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prazos mais longos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que ainda não haviam “estourado” no momento da aquisição.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Vencimentos até meados de 2024: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Inadimplência relativamente controlada,  ≈ 6–7%.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partir de final de 2024 / início de 2025: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Crescimento consistente da inadimplência, ≈ 10–12%.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Segundo semestre de 2025 em diante: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Salto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abrupto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para níveis próximos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35%.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Indica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deterioração severa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nos fluxos mais longos.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412750" y="1473825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938" y="1676938"/>
            <a:ext cx="5800725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ETAPA 3 - CALCULANDO A INADIMPLÊNCIA DA CARTEIRA</a:t>
            </a:r>
            <a:endParaRPr b="1" sz="27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571500" y="571500"/>
            <a:ext cx="57300" cy="415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412750" y="2489717"/>
            <a:ext cx="53976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problema é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 safra + convênio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não de carteira como um todo.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inadimplência se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materializa tardiamente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o que pode ter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mascarado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 risco no início.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combinação de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crescimento acelerado + prazos longos + convênios específicos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criou uma estrutura frágil de risco.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412750" y="1844225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Insights e Implicações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6339425" y="1844217"/>
            <a:ext cx="2878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114D"/>
                </a:solidFill>
                <a:latin typeface="Montserrat"/>
                <a:ea typeface="Montserrat"/>
                <a:cs typeface="Montserrat"/>
                <a:sym typeface="Montserrat"/>
              </a:rPr>
              <a:t>Conclusões</a:t>
            </a:r>
            <a:endParaRPr b="1" sz="1600">
              <a:solidFill>
                <a:srgbClr val="0011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6339425" y="2489725"/>
            <a:ext cx="5397600" cy="3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inadimplência cash confirma que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risco assumido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nas fases de crescimento se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materializou de forma concentrada.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Convênios dominantes e prazos longos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são os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principais responsáveis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pela deterioração da carteira.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precificação adotada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vista na ETAPA 2,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não foi suficiente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absorver as perdas observadas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nos piores cenários.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5715025" y="3152325"/>
            <a:ext cx="762000" cy="38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1968476" y="2311992"/>
            <a:ext cx="825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Conclusões Finais</a:t>
            </a:r>
            <a:endParaRPr/>
          </a:p>
        </p:txBody>
      </p:sp>
      <p:sp>
        <p:nvSpPr>
          <p:cNvPr id="258" name="Google Shape;258;p28"/>
          <p:cNvSpPr txBox="1"/>
          <p:nvPr/>
        </p:nvSpPr>
        <p:spPr>
          <a:xfrm>
            <a:off x="2277000" y="3429000"/>
            <a:ext cx="7743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objetivo deste case é desenvolver uma análise de uma carteira de crédito estruturado, obtendo visões analíticas relevantes e calculando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métricas de desempenho.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solução deverá ser implementada em Python, aplicando boas práticas de tratamento, modelagem e visualização de dados.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40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465675" y="1708048"/>
            <a:ext cx="5238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principal problema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 carteira é 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combinação de crescimento acelerado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concentração em convênios específicos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prazos longos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cuja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precificação não foi suficiente para compensar o risco de inadimplência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que se materializou ao longo do tempo.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problema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tem início nas safras adquiridas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 partir do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primeiro trimestre de 2023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especialmente entre </a:t>
            </a: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janeiro e maio de 2023.</a:t>
            </a:r>
            <a:endParaRPr b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CONCLUSÕES FINAIS</a:t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3000" y="1708050"/>
            <a:ext cx="58293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465675" y="5611800"/>
            <a:ext cx="40428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Por que esse período…?</a:t>
            </a:r>
            <a:endParaRPr b="1" sz="1600">
              <a:solidFill>
                <a:srgbClr val="0021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571500" y="1454025"/>
            <a:ext cx="6159600" cy="4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Mudança de patamar no volume (ETAPA 1)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Em jan/23 ocorre o primeiro grande pico de aquisição.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carteira passa a operar em um nível de exposição muito superior a 2022. 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Esse é o início da decisão que cria o problema.</a:t>
            </a:r>
            <a:endParaRPr i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Precificação mais agressiva (ETAPA 2)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A partir desse período, as taxas médias sobem e ficam mais voláteis.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Indicam percepção de risco maior, mas sem criação de margem suficiente.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risco começa a ser reconhecido, mas não adequadamente absorvido.</a:t>
            </a:r>
            <a:endParaRPr i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Materialização da inadimplência (ETAPA 3)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Safras de mar/23 já apresentam inadimplência acima da média.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problema se intensifica ao longo de 2024 e 2025, especialmente nos vencimentos longos.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erro nasce em 2023, mas aparece plenamente depois.</a:t>
            </a:r>
            <a:endParaRPr i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CONCLUSÕES FINAIS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571500" y="571500"/>
            <a:ext cx="57300" cy="419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7958650" y="2099525"/>
            <a:ext cx="3354900" cy="2955300"/>
          </a:xfrm>
          <a:prstGeom prst="rect">
            <a:avLst/>
          </a:prstGeom>
          <a:noFill/>
          <a:ln cap="flat" cmpd="sng" w="9525">
            <a:solidFill>
              <a:srgbClr val="002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Até 2022 → 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carteira pequena e controlada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Jan–Mai/2023 →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início do problema (crescimento + concentração)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2024 →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primeiros sinais claros de deterioração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2025 em diante →</a:t>
            </a: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impacto direto na rentabilidade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0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3016200" y="6100125"/>
            <a:ext cx="615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problema nasce em 2023 e se materializa nos anos seguintes.</a:t>
            </a:r>
            <a:endParaRPr i="1"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395250" y="482975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DIAGNÓSTICO FINAL</a:t>
            </a:r>
            <a:endParaRPr/>
          </a:p>
        </p:txBody>
      </p:sp>
      <p:sp>
        <p:nvSpPr>
          <p:cNvPr id="286" name="Google Shape;286;p31"/>
          <p:cNvSpPr txBox="1"/>
          <p:nvPr/>
        </p:nvSpPr>
        <p:spPr>
          <a:xfrm>
            <a:off x="1396950" y="1566275"/>
            <a:ext cx="93981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 principal problema da carteira tem origem nas decisões de crescimento tomadas a partir do primeiro trimestre de 2023, especialmente entre janeiro e maio, cujas safras concentradas em poucos convênios e prazos longos passaram a gerar inadimplência relevante ao longo do tempo.</a:t>
            </a:r>
            <a:endParaRPr sz="18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4596000" y="337610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Crescimento acelerado a partir de jan/2023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Concentração em convênios dominantes</a:t>
            </a:r>
            <a:b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Risco de prazo subprecificado</a:t>
            </a:r>
            <a:endParaRPr sz="15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31"/>
          <p:cNvSpPr/>
          <p:nvPr/>
        </p:nvSpPr>
        <p:spPr>
          <a:xfrm rot="5400000">
            <a:off x="6067350" y="1022813"/>
            <a:ext cx="57300" cy="4191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 txBox="1"/>
          <p:nvPr/>
        </p:nvSpPr>
        <p:spPr>
          <a:xfrm>
            <a:off x="4630816" y="1962150"/>
            <a:ext cx="293036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2147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4848225" y="2800350"/>
            <a:ext cx="249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Dúvidas?</a:t>
            </a:r>
            <a:endParaRPr/>
          </a:p>
        </p:txBody>
      </p:sp>
      <p:sp>
        <p:nvSpPr>
          <p:cNvPr id="296" name="Google Shape;296;p32"/>
          <p:cNvSpPr txBox="1"/>
          <p:nvPr/>
        </p:nvSpPr>
        <p:spPr>
          <a:xfrm>
            <a:off x="2376075" y="3666075"/>
            <a:ext cx="744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Open Sans"/>
                <a:ea typeface="Open Sans"/>
                <a:cs typeface="Open Sans"/>
                <a:sym typeface="Open Sans"/>
              </a:rPr>
              <a:t>vhmmarinho@gmail.com</a:t>
            </a:r>
            <a:endParaRPr b="1" sz="1800">
              <a:solidFill>
                <a:srgbClr val="00214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14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147"/>
                </a:solidFill>
                <a:latin typeface="Open Sans"/>
                <a:ea typeface="Open Sans"/>
                <a:cs typeface="Open Sans"/>
                <a:sym typeface="Open Sans"/>
              </a:rPr>
              <a:t>https://www.linkedin.com/in/vitor-hugo-magalhaes-marinho/</a:t>
            </a:r>
            <a:endParaRPr b="1" sz="1800">
              <a:solidFill>
                <a:srgbClr val="0021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